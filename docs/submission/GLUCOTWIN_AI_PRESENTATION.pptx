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UNSTOP DIGITAL TWIN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GlucoTwin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0A0A0"/>
                </a:solidFill>
              </a:defRPr>
            </a:pPr>
            <a:r>
              <a:t>Clinical Decision Support &amp; Physiological Digital Twin Platform for Type 2 Diabetes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728655" cy="4114800"/>
          </a:xfrm>
          <a:prstGeom prst="rect">
            <a:avLst/>
          </a:prstGeom>
          <a:solidFill>
            <a:srgbClr val="121212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Team: Karpagam Institute of Technology, Coimbatore, Tamil Nadu, India</a:t>
            </a:r>
          </a:p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Domain: Healthcare &amp; AI-driven Clinical Digital Twins</a:t>
            </a:r>
          </a:p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Platform: Real-time CGM Telemetry, XGBoost Spike Forecasts, What-If Simulations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GlucoTwin AI — Unstop Digital Twin Challenge 2026 | Karpagam Institute of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CLINICAL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Executive Summary &amp;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0A0A0"/>
                </a:solidFill>
              </a:defRPr>
            </a:pPr>
            <a:r>
              <a:t>The Challenge in Type 2 Diabetes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728655" cy="4114800"/>
          </a:xfrm>
          <a:prstGeom prst="rect">
            <a:avLst/>
          </a:prstGeom>
          <a:solidFill>
            <a:srgbClr val="121212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Clinical Burden: Type 2 Diabetes affects &gt;500M individuals worldwide; postprandial glucose excursions (&gt;10.0 mmol/L) drive vascular complications.</a:t>
            </a:r>
          </a:p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Static EHR Limitation: Conventional clinical records provide only periodic snapshots (HbA1c quarterly) without continuous physiological context.</a:t>
            </a:r>
          </a:p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Wearable Telemetry Disconnect: Modern Continuous Glucose Monitors (CGM) stream massive data, but clinicians lack predictive decision tools.</a:t>
            </a:r>
          </a:p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The Opportunity: A versioned Physiological Digital Twin synthesizing static clinical baselines with real-time biometric telemetry.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GlucoTwin AI — Unstop Digital Twin Challenge 2026 | Karpagam Institute of Technology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Proposed Solution &amp; Healthcare Use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0A0A0"/>
                </a:solidFill>
              </a:defRPr>
            </a:pPr>
            <a:r>
              <a:t>Dual-Layer Digital Twin with Forward Risk Forecasting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728655" cy="4114800"/>
          </a:xfrm>
          <a:prstGeom prst="rect">
            <a:avLst/>
          </a:prstGeom>
          <a:solidFill>
            <a:srgbClr val="121212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Dual-Layer Twin Architecture: Combines static EHR clinical history with a dynamic wearable sliding-window buffer.</a:t>
            </a:r>
          </a:p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2-Hour Spike Forecaster: Machine learning pipeline predicting postprandial hyperglycemia (&gt;= 10.0 mmol/L / 180 mg/dL) 2 hours in advance.</a:t>
            </a:r>
          </a:p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SHAP Feature Attribution: Statistical breakdown explaining exactly which physiological signals (CGM trend, HRV, activity) influence the forecast.</a:t>
            </a:r>
          </a:p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Counterfactual Simulations: Clinicians model hypothetical meals and physical activity before prescribing interventions.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GlucoTwin AI — Unstop Digital Twin Challenge 2026 | Karpagam Institute of Technology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System Architecture &amp; Microservice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0A0A0"/>
                </a:solidFill>
              </a:defRPr>
            </a:pPr>
            <a:r>
              <a:t>Decoupled, Event-Driven Clinical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728655" cy="4114800"/>
          </a:xfrm>
          <a:prstGeom prst="rect">
            <a:avLst/>
          </a:prstGeom>
          <a:solidFill>
            <a:srgbClr val="121212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Presentation Layer: React 18 SPA (Vite, TypeScript, Tailwind CSS dark theme, Recharts telemetry charts).</a:t>
            </a:r>
          </a:p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Application Core: Spring Boot 3.3.0 REST Gateway with Spring Security (ROLE_CLINICIAN) &amp; Flyway database migrations.</a:t>
            </a:r>
          </a:p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Event Streaming Bus: Redis 7 Streams (glucotwin:wearable-events) processing streaming CGM, heart rate, and HRV readings.</a:t>
            </a:r>
          </a:p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Persistence Tier: PostgreSQL 16 storing patient EHR, versioned Digital Twin states, and immutable audit logs.</a:t>
            </a:r>
          </a:p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Machine Learning Service: Python FastAPI container hosting calibrated XGBoost 2.0.3 and SHAP explainability engines.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GlucoTwin AI — Unstop Digital Twin Challenge 2026 | Karpagam Institute of Technology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DIGITAL TWIN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Physiological Digital Twin State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0A0A0"/>
                </a:solidFill>
              </a:defRPr>
            </a:pPr>
            <a:r>
              <a:t>Dual-Layer Representation &amp; Lifecycle Transitions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728655" cy="4114800"/>
          </a:xfrm>
          <a:prstGeom prst="rect">
            <a:avLst/>
          </a:prstGeom>
          <a:solidFill>
            <a:srgbClr val="121212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Static EHR Layer: Age, biological sex, BMI, diabetes onset year, baseline HbA1c, fasting glucose.</a:t>
            </a:r>
          </a:p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Dynamic Wearable Layer: Rolling CGM glucose window (6-12 points), heart rate, HRV autonomic tone, sleep, and step counts.</a:t>
            </a:r>
          </a:p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Status Lifecycle:</a:t>
            </a:r>
          </a:p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  • INITIALISED: Static EHR loaded; awaiting continuous streaming sensor data.</a:t>
            </a:r>
          </a:p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  • ACTIVE: Live wearable telemetry received within the last 60 minutes.</a:t>
            </a:r>
          </a:p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  • STALE: Telemetry elapsed &gt; 60 minutes; predictions automatically carry data-staleness flags.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GlucoTwin AI — Unstop Digital Twin Challenge 2026 | Karpagam Institute of Technology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AI / Machine Learning Approach &amp; SHAP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0A0A0"/>
                </a:solidFill>
              </a:defRPr>
            </a:pPr>
            <a:r>
              <a:t>Calibrated XGBoost Model with Local Explanations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728655" cy="4114800"/>
          </a:xfrm>
          <a:prstGeom prst="rect">
            <a:avLst/>
          </a:prstGeom>
          <a:solidFill>
            <a:srgbClr val="121212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Algorithm: Pre-trained XGBoost 2.0.3 binary classification model.</a:t>
            </a:r>
          </a:p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Inference Objective: Probability of blood glucose exceeding 10.0 mmol/L within a 2-hour forward horizon.</a:t>
            </a:r>
          </a:p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Outputs Delivered:</a:t>
            </a:r>
          </a:p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  • Point Probability: Calibrated risk probability (0.0% to 100.0%).</a:t>
            </a:r>
          </a:p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  • Categorical Risk Tier: LOW (&lt;30%), MODERATE (30-60%), HIGH (60-85%), CRITICAL (&gt;=85%).</a:t>
            </a:r>
          </a:p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  • 95% Confidence Interval: Empirical bounds evaluating prediction certainty.</a:t>
            </a:r>
          </a:p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  • SHAP TreeExplainer: Directional feature attributions (e.g., cgm_current increases risk by +32.0%).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GlucoTwin AI — Unstop Digital Twin Challenge 2026 | Karpagam Institute of Technology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CLINICAL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What-If Counterfactual Simulations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0A0A0"/>
                </a:solidFill>
              </a:defRPr>
            </a:pPr>
            <a:r>
              <a:t>Hypothetical Scenario Modeling with Transactional Memory Isolation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728655" cy="4114800"/>
          </a:xfrm>
          <a:prstGeom prst="rect">
            <a:avLst/>
          </a:prstGeom>
          <a:solidFill>
            <a:srgbClr val="121212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Clinical Purpose: Allows clinicians and researchers to test meal carbohydrate intake (0-500g), physical exercise levels, and medication adherence.</a:t>
            </a:r>
          </a:p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Absolute Memory Isolation Guarantee:</a:t>
            </a:r>
          </a:p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  • Simulation executes exclusively against an in-memory ephemeral twin clone.</a:t>
            </a:r>
          </a:p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  • Observed Digital Twin state and physiological history are strictly IMMUTABLE.</a:t>
            </a:r>
          </a:p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  • Results are tagged with SIMULATED provenance and isolated from real patient EHR.</a:t>
            </a:r>
          </a:p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Verified Invariant: Tests confirm baseline observed glucose remains identical before, during, and after simulation runs.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GlucoTwin AI — Unstop Digital Twin Challenge 2026 | Karpagam Institute of Technology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DECISION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Multi-Agent Clinical Insights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0A0A0"/>
                </a:solidFill>
              </a:defRPr>
            </a:pPr>
            <a:r>
              <a:t>Collaborative Agent Reasoning with Deterministic Fallbacks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728655" cy="4114800"/>
          </a:xfrm>
          <a:prstGeom prst="rect">
            <a:avLst/>
          </a:prstGeom>
          <a:solidFill>
            <a:srgbClr val="121212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RiskEvidenceAgent: Synthesizes EHR baselines, dynamic telemetry, and ML spike probabilities.</a:t>
            </a:r>
          </a:p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ClinicalKnowledgeAgent: Retrieves clinical guidance (ADA Standards of Care, glycemic variability guidelines).</a:t>
            </a:r>
          </a:p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InsightExplanationAgent: Formulates structured medical narrative (LLM-enabled with automatic deterministic rule-based fallback).</a:t>
            </a:r>
          </a:p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InsightVerificationAgent: Verifies numeric claims, asserts safety disclaimers, and records pipeline execution trace.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GlucoTwin AI — Unstop Digital Twin Challenge 2026 | Karpagam Institute of Technology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Testing, Validation &amp; Build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0A0A0"/>
                </a:solidFill>
              </a:defRPr>
            </a:pPr>
            <a:r>
              <a:t>100% Passing Automated Verification Across the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728655" cy="4114800"/>
          </a:xfrm>
          <a:prstGeom prst="rect">
            <a:avLst/>
          </a:prstGeom>
          <a:solidFill>
            <a:srgbClr val="121212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Frontend Suite: 74 / 74 Vitest component tests passing; strict TypeScript check (0 errors); production build clean (912 modules).</a:t>
            </a:r>
          </a:p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Backend Suite: Spring Boot JUnit 5 and jqwik property tests passing (BUILD SUCCESSFUL); executable bootJar compiled.</a:t>
            </a:r>
          </a:p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ML Service Suite: 29 / 29 Pytest unit tests passing (100% pass rate) covering model deserialization, SHAP attributions, and CI bounds.</a:t>
            </a:r>
          </a:p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End-to-End Workflows: 7 / 7 automated workflow integration scenarios verified (telemetry ingestion, prediction, insights, simulation).</a:t>
            </a:r>
          </a:p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Cohort Persistence: 15 independently versioned patient records verified in PostgreSQL.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GlucoTwin AI — Unstop Digital Twin Challenge 2026 | Karpagam Institute of Technology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GOVERNANCE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Known Limitations &amp; Clinical Disclaimer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0A0A0"/>
                </a:solidFill>
              </a:defRPr>
            </a:pPr>
            <a:r>
              <a:t>Honest Operational Scope &amp; Safety 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728655" cy="4114800"/>
          </a:xfrm>
          <a:prstGeom prst="rect">
            <a:avLst/>
          </a:prstGeom>
          <a:solidFill>
            <a:srgbClr val="121212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Operational Scope: Designed exclusively for research and clinical decision support; not an FDA/CE-cleared autonomous diagnostic device.</a:t>
            </a:r>
          </a:p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Hardware Emulation: High-throughput telemetry streaming uses Redis event streams rather than physical Bluetooth LE hardware pairings.</a:t>
            </a:r>
          </a:p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Local LLM Mode: Uses deterministic rule-based medical reasoning by default when OPENAI_API_KEY is not configured in local development.</a:t>
            </a:r>
          </a:p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Safety Governance: All screens display explicit clinical safety disclaimers and immutable provenance tags.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GlucoTwin AI — Unstop Digital Twin Challenge 2026 | Karpagam Institute of Technology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Future Scope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0A0A0"/>
                </a:solidFill>
              </a:defRPr>
            </a:pPr>
            <a:r>
              <a:t>Scaling from Decision Support to Closed-Loop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728655" cy="4114800"/>
          </a:xfrm>
          <a:prstGeom prst="rect">
            <a:avLst/>
          </a:prstGeom>
          <a:solidFill>
            <a:srgbClr val="121212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Hardware Integration: Direct Bluetooth Low Energy (BLE) drivers for Dexcom G7, Abbott FreeStyle Libre 3, and smart insulin pens.</a:t>
            </a:r>
          </a:p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EHR Interoperability: Production FHIR R4 and HL7 SMART-on-FHIR connectors for hospital Electronic Medical Record systems (Epic, Cerner).</a:t>
            </a:r>
          </a:p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Deep Learning Sequencers: Exploring LSTM and Transformer-based temporal models for continuous multi-step trajectory forecasting.</a:t>
            </a:r>
          </a:p>
          <a:p>
            <a:pPr>
              <a:spcAft>
                <a:spcPts val="1400"/>
              </a:spcAft>
              <a:defRPr sz="1500">
                <a:solidFill>
                  <a:srgbClr val="DCDCDC"/>
                </a:solidFill>
              </a:defRPr>
            </a:pPr>
            <a:r>
              <a:t>•  Automated Insulin Delivery (AID): Exploring research sandbox integrations with open-source artificial pancreas algorithms.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GlucoTwin AI — Unstop Digital Twin Challenge 2026 | Karpagam Institute of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